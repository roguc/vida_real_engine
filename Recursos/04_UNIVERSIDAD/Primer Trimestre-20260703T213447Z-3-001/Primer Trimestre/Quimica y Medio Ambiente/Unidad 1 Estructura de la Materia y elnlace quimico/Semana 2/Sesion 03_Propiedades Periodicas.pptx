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79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187" y="2720817"/>
            <a:ext cx="7150661" cy="40305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10658" y="752349"/>
            <a:ext cx="455866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161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161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161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161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71805" y="3392067"/>
            <a:ext cx="6518673" cy="36739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0936" y="689996"/>
            <a:ext cx="1697283" cy="7529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10658" y="752349"/>
            <a:ext cx="455866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161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2136" y="1669812"/>
            <a:ext cx="7990840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755392"/>
            <a:ext cx="9144000" cy="45598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6" y="689996"/>
            <a:ext cx="1697283" cy="7529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8960" y="1480488"/>
            <a:ext cx="8736040" cy="107843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just">
              <a:lnSpc>
                <a:spcPct val="101400"/>
              </a:lnSpc>
              <a:spcBef>
                <a:spcPts val="340"/>
              </a:spcBef>
            </a:pPr>
            <a:r>
              <a:rPr sz="3200" b="1" spc="-10" dirty="0">
                <a:latin typeface="Calibri"/>
                <a:cs typeface="Calibri"/>
              </a:rPr>
              <a:t>Electronegatividad.</a:t>
            </a:r>
            <a:r>
              <a:rPr sz="3200" b="1" spc="15" dirty="0">
                <a:latin typeface="Calibri"/>
                <a:cs typeface="Calibri"/>
              </a:rPr>
              <a:t> </a:t>
            </a:r>
            <a:r>
              <a:rPr sz="1800" spc="110" dirty="0">
                <a:latin typeface="Verdana"/>
                <a:cs typeface="Verdana"/>
              </a:rPr>
              <a:t>Capacidad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un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átomo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para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atraer </a:t>
            </a:r>
            <a:r>
              <a:rPr sz="1800" spc="-25" dirty="0">
                <a:latin typeface="Verdana"/>
                <a:cs typeface="Verdana"/>
              </a:rPr>
              <a:t>electrones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hacia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200" dirty="0">
                <a:latin typeface="Verdana"/>
                <a:cs typeface="Verdana"/>
              </a:rPr>
              <a:t>sí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mismo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75" dirty="0">
                <a:latin typeface="Verdana"/>
                <a:cs typeface="Verdana"/>
              </a:rPr>
              <a:t>cuando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se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combina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85" dirty="0">
                <a:latin typeface="Verdana"/>
                <a:cs typeface="Verdana"/>
              </a:rPr>
              <a:t>con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otro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átomo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un </a:t>
            </a:r>
            <a:r>
              <a:rPr sz="1800" spc="55" dirty="0">
                <a:latin typeface="Verdana"/>
                <a:cs typeface="Verdana"/>
              </a:rPr>
              <a:t>enlace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químico.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A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mayor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electronegatividad,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spc="-40" dirty="0">
                <a:latin typeface="Verdana"/>
                <a:cs typeface="Verdana"/>
              </a:rPr>
              <a:t>mayor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114" dirty="0">
                <a:latin typeface="Verdana"/>
                <a:cs typeface="Verdana"/>
              </a:rPr>
              <a:t>capacidad</a:t>
            </a:r>
            <a:r>
              <a:rPr sz="1800" spc="-145" dirty="0">
                <a:latin typeface="Verdana"/>
                <a:cs typeface="Verdana"/>
              </a:rPr>
              <a:t> </a:t>
            </a:r>
            <a:r>
              <a:rPr sz="1800" spc="70" dirty="0">
                <a:latin typeface="Verdana"/>
                <a:cs typeface="Verdana"/>
              </a:rPr>
              <a:t>de </a:t>
            </a:r>
            <a:r>
              <a:rPr sz="1800" spc="-10" dirty="0">
                <a:latin typeface="Verdana"/>
                <a:cs typeface="Verdana"/>
              </a:rPr>
              <a:t>atracción.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936" y="689996"/>
            <a:ext cx="1697283" cy="752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8975" y="1517376"/>
            <a:ext cx="8125459" cy="11328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z="3200" b="1" spc="-10" dirty="0">
                <a:solidFill>
                  <a:srgbClr val="E12826"/>
                </a:solidFill>
                <a:latin typeface="Calibri"/>
                <a:cs typeface="Calibri"/>
              </a:rPr>
              <a:t>Electronegatividad</a:t>
            </a:r>
            <a:r>
              <a:rPr sz="3200" b="1" spc="-10" dirty="0">
                <a:latin typeface="Calibri"/>
                <a:cs typeface="Calibri"/>
              </a:rPr>
              <a:t>.</a:t>
            </a:r>
            <a:r>
              <a:rPr sz="3200" b="1" spc="-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capacidad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átomo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atraer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electrones </a:t>
            </a:r>
            <a:r>
              <a:rPr sz="2000" dirty="0">
                <a:latin typeface="Calibri"/>
                <a:cs typeface="Calibri"/>
              </a:rPr>
              <a:t>hacia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sí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mismo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cuando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otro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átomo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enlace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químico.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mayor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electronegatividad,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mayor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capacidad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atracción.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155" y="3008375"/>
            <a:ext cx="7562087" cy="37505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7031" y="3166872"/>
            <a:ext cx="8696325" cy="3807460"/>
            <a:chOff x="637031" y="3166872"/>
            <a:chExt cx="8696325" cy="3807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031" y="3166872"/>
              <a:ext cx="8695944" cy="38069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11296" y="4242816"/>
              <a:ext cx="2778251" cy="605027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0936" y="689996"/>
            <a:ext cx="1697283" cy="75290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8960" y="1480488"/>
            <a:ext cx="8161655" cy="12103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20"/>
              </a:spcBef>
            </a:pPr>
            <a:r>
              <a:rPr sz="3200" b="1" dirty="0">
                <a:solidFill>
                  <a:srgbClr val="E12826"/>
                </a:solidFill>
                <a:latin typeface="Calibri"/>
                <a:cs typeface="Calibri"/>
              </a:rPr>
              <a:t>Radio</a:t>
            </a:r>
            <a:r>
              <a:rPr sz="3200" b="1" spc="-5" dirty="0">
                <a:solidFill>
                  <a:srgbClr val="E12826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E12826"/>
                </a:solidFill>
                <a:latin typeface="Calibri"/>
                <a:cs typeface="Calibri"/>
              </a:rPr>
              <a:t>Atómico</a:t>
            </a:r>
            <a:r>
              <a:rPr sz="3200" b="1" spc="-10" dirty="0">
                <a:latin typeface="Calibri"/>
                <a:cs typeface="Calibri"/>
              </a:rPr>
              <a:t>.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1800" spc="-40" dirty="0">
                <a:latin typeface="Verdana"/>
                <a:cs typeface="Verdana"/>
              </a:rPr>
              <a:t>representa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b="1" spc="-105" dirty="0">
                <a:latin typeface="Verdana"/>
                <a:cs typeface="Verdana"/>
              </a:rPr>
              <a:t>la </a:t>
            </a:r>
            <a:r>
              <a:rPr sz="1800" b="1" spc="-135" dirty="0">
                <a:latin typeface="Verdana"/>
                <a:cs typeface="Verdana"/>
              </a:rPr>
              <a:t>distancia</a:t>
            </a:r>
            <a:r>
              <a:rPr sz="1800" b="1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existe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b="1" spc="-190" dirty="0">
                <a:latin typeface="Verdana"/>
                <a:cs typeface="Verdana"/>
              </a:rPr>
              <a:t>entre</a:t>
            </a:r>
            <a:r>
              <a:rPr sz="1800" b="1" spc="-120" dirty="0">
                <a:latin typeface="Verdana"/>
                <a:cs typeface="Verdana"/>
              </a:rPr>
              <a:t> </a:t>
            </a:r>
            <a:r>
              <a:rPr sz="1800" b="1" spc="-125" dirty="0">
                <a:latin typeface="Verdana"/>
                <a:cs typeface="Verdana"/>
              </a:rPr>
              <a:t>el</a:t>
            </a:r>
            <a:r>
              <a:rPr sz="1800" b="1" spc="-110" dirty="0">
                <a:latin typeface="Verdana"/>
                <a:cs typeface="Verdana"/>
              </a:rPr>
              <a:t> </a:t>
            </a:r>
            <a:r>
              <a:rPr sz="1800" b="1" spc="-60" dirty="0">
                <a:latin typeface="Verdana"/>
                <a:cs typeface="Verdana"/>
              </a:rPr>
              <a:t>núcleo </a:t>
            </a:r>
            <a:r>
              <a:rPr sz="1800" b="1" spc="-150" dirty="0">
                <a:latin typeface="Verdana"/>
                <a:cs typeface="Verdana"/>
              </a:rPr>
              <a:t>y</a:t>
            </a:r>
            <a:r>
              <a:rPr sz="1800" b="1" spc="-65" dirty="0">
                <a:latin typeface="Verdana"/>
                <a:cs typeface="Verdana"/>
              </a:rPr>
              <a:t> </a:t>
            </a:r>
            <a:r>
              <a:rPr sz="1800" b="1" spc="-105" dirty="0">
                <a:latin typeface="Verdana"/>
                <a:cs typeface="Verdana"/>
              </a:rPr>
              <a:t>la</a:t>
            </a:r>
            <a:r>
              <a:rPr sz="1800" b="1" spc="-6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capa</a:t>
            </a:r>
            <a:r>
              <a:rPr sz="1800" b="1" spc="-6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valencia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(la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b="1" spc="-175" dirty="0">
                <a:latin typeface="Verdana"/>
                <a:cs typeface="Verdana"/>
              </a:rPr>
              <a:t>más</a:t>
            </a:r>
            <a:r>
              <a:rPr sz="1800" b="1" spc="-80" dirty="0">
                <a:latin typeface="Verdana"/>
                <a:cs typeface="Verdana"/>
              </a:rPr>
              <a:t> </a:t>
            </a:r>
            <a:r>
              <a:rPr sz="1800" b="1" spc="-170" dirty="0">
                <a:latin typeface="Verdana"/>
                <a:cs typeface="Verdana"/>
              </a:rPr>
              <a:t>externa</a:t>
            </a:r>
            <a:r>
              <a:rPr sz="1800" spc="-170" dirty="0">
                <a:latin typeface="Verdana"/>
                <a:cs typeface="Verdana"/>
              </a:rPr>
              <a:t>).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Por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medio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del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radio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atómico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es posible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determinar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el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2400" b="1" spc="-195" dirty="0">
                <a:latin typeface="Verdana"/>
                <a:cs typeface="Verdana"/>
              </a:rPr>
              <a:t>tamaño</a:t>
            </a:r>
            <a:r>
              <a:rPr sz="2400" b="1" spc="-90" dirty="0">
                <a:latin typeface="Verdana"/>
                <a:cs typeface="Verdana"/>
              </a:rPr>
              <a:t> </a:t>
            </a:r>
            <a:r>
              <a:rPr sz="2400" b="1" spc="-150" dirty="0">
                <a:latin typeface="Verdana"/>
                <a:cs typeface="Verdana"/>
              </a:rPr>
              <a:t>del</a:t>
            </a:r>
            <a:r>
              <a:rPr sz="2400" b="1" spc="-110" dirty="0">
                <a:latin typeface="Verdana"/>
                <a:cs typeface="Verdana"/>
              </a:rPr>
              <a:t> </a:t>
            </a:r>
            <a:r>
              <a:rPr sz="2400" b="1" spc="-10" dirty="0">
                <a:latin typeface="Verdana"/>
                <a:cs typeface="Verdana"/>
              </a:rPr>
              <a:t>átomo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583" y="3008376"/>
            <a:ext cx="7557516" cy="37505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6" y="689996"/>
            <a:ext cx="1697283" cy="7529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8960" y="1480488"/>
            <a:ext cx="8161655" cy="12103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320"/>
              </a:spcBef>
            </a:pPr>
            <a:r>
              <a:rPr sz="3200" b="1" dirty="0">
                <a:solidFill>
                  <a:srgbClr val="E12826"/>
                </a:solidFill>
                <a:latin typeface="Calibri"/>
                <a:cs typeface="Calibri"/>
              </a:rPr>
              <a:t>Radio</a:t>
            </a:r>
            <a:r>
              <a:rPr sz="3200" b="1" spc="-5" dirty="0">
                <a:solidFill>
                  <a:srgbClr val="E12826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E12826"/>
                </a:solidFill>
                <a:latin typeface="Calibri"/>
                <a:cs typeface="Calibri"/>
              </a:rPr>
              <a:t>Atómico</a:t>
            </a:r>
            <a:r>
              <a:rPr sz="3200" b="1" spc="-10" dirty="0">
                <a:latin typeface="Calibri"/>
                <a:cs typeface="Calibri"/>
              </a:rPr>
              <a:t>.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1800" spc="-40" dirty="0">
                <a:latin typeface="Verdana"/>
                <a:cs typeface="Verdana"/>
              </a:rPr>
              <a:t>representa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b="1" spc="-105" dirty="0">
                <a:latin typeface="Verdana"/>
                <a:cs typeface="Verdana"/>
              </a:rPr>
              <a:t>la </a:t>
            </a:r>
            <a:r>
              <a:rPr sz="1800" b="1" spc="-135" dirty="0">
                <a:latin typeface="Verdana"/>
                <a:cs typeface="Verdana"/>
              </a:rPr>
              <a:t>distancia</a:t>
            </a:r>
            <a:r>
              <a:rPr sz="1800" b="1" spc="-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que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existe</a:t>
            </a:r>
            <a:r>
              <a:rPr sz="1800" spc="-114" dirty="0">
                <a:latin typeface="Verdana"/>
                <a:cs typeface="Verdana"/>
              </a:rPr>
              <a:t> </a:t>
            </a:r>
            <a:r>
              <a:rPr sz="1800" b="1" spc="-190" dirty="0">
                <a:latin typeface="Verdana"/>
                <a:cs typeface="Verdana"/>
              </a:rPr>
              <a:t>entre</a:t>
            </a:r>
            <a:r>
              <a:rPr sz="1800" b="1" spc="-120" dirty="0">
                <a:latin typeface="Verdana"/>
                <a:cs typeface="Verdana"/>
              </a:rPr>
              <a:t> </a:t>
            </a:r>
            <a:r>
              <a:rPr sz="1800" b="1" spc="-125" dirty="0">
                <a:latin typeface="Verdana"/>
                <a:cs typeface="Verdana"/>
              </a:rPr>
              <a:t>el</a:t>
            </a:r>
            <a:r>
              <a:rPr sz="1800" b="1" spc="-110" dirty="0">
                <a:latin typeface="Verdana"/>
                <a:cs typeface="Verdana"/>
              </a:rPr>
              <a:t> </a:t>
            </a:r>
            <a:r>
              <a:rPr sz="1800" b="1" spc="-60" dirty="0">
                <a:latin typeface="Verdana"/>
                <a:cs typeface="Verdana"/>
              </a:rPr>
              <a:t>núcleo </a:t>
            </a:r>
            <a:r>
              <a:rPr sz="1800" b="1" spc="-150" dirty="0">
                <a:latin typeface="Verdana"/>
                <a:cs typeface="Verdana"/>
              </a:rPr>
              <a:t>y</a:t>
            </a:r>
            <a:r>
              <a:rPr sz="1800" b="1" spc="-65" dirty="0">
                <a:latin typeface="Verdana"/>
                <a:cs typeface="Verdana"/>
              </a:rPr>
              <a:t> </a:t>
            </a:r>
            <a:r>
              <a:rPr sz="1800" b="1" spc="-105" dirty="0">
                <a:latin typeface="Verdana"/>
                <a:cs typeface="Verdana"/>
              </a:rPr>
              <a:t>la</a:t>
            </a:r>
            <a:r>
              <a:rPr sz="1800" b="1" spc="-6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capa</a:t>
            </a:r>
            <a:r>
              <a:rPr sz="1800" b="1" spc="-60" dirty="0">
                <a:latin typeface="Verdana"/>
                <a:cs typeface="Verdana"/>
              </a:rPr>
              <a:t> </a:t>
            </a:r>
            <a:r>
              <a:rPr sz="1800" spc="95" dirty="0">
                <a:latin typeface="Verdana"/>
                <a:cs typeface="Verdana"/>
              </a:rPr>
              <a:t>de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valencia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(la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b="1" spc="-175" dirty="0">
                <a:latin typeface="Verdana"/>
                <a:cs typeface="Verdana"/>
              </a:rPr>
              <a:t>más</a:t>
            </a:r>
            <a:r>
              <a:rPr sz="1800" b="1" spc="-80" dirty="0">
                <a:latin typeface="Verdana"/>
                <a:cs typeface="Verdana"/>
              </a:rPr>
              <a:t> </a:t>
            </a:r>
            <a:r>
              <a:rPr sz="1800" b="1" spc="-170" dirty="0">
                <a:latin typeface="Verdana"/>
                <a:cs typeface="Verdana"/>
              </a:rPr>
              <a:t>externa</a:t>
            </a:r>
            <a:r>
              <a:rPr sz="1800" spc="-170" dirty="0">
                <a:latin typeface="Verdana"/>
                <a:cs typeface="Verdana"/>
              </a:rPr>
              <a:t>).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Por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medio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del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radio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atómico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es posible</a:t>
            </a:r>
            <a:r>
              <a:rPr sz="1800" spc="-140" dirty="0">
                <a:latin typeface="Verdana"/>
                <a:cs typeface="Verdana"/>
              </a:rPr>
              <a:t> </a:t>
            </a:r>
            <a:r>
              <a:rPr sz="1800" spc="-45" dirty="0">
                <a:latin typeface="Verdana"/>
                <a:cs typeface="Verdana"/>
              </a:rPr>
              <a:t>determinar</a:t>
            </a:r>
            <a:r>
              <a:rPr sz="1800" spc="-1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el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2400" b="1" spc="-195" dirty="0">
                <a:latin typeface="Verdana"/>
                <a:cs typeface="Verdana"/>
              </a:rPr>
              <a:t>tamaño</a:t>
            </a:r>
            <a:r>
              <a:rPr sz="2400" b="1" spc="-90" dirty="0">
                <a:latin typeface="Verdana"/>
                <a:cs typeface="Verdana"/>
              </a:rPr>
              <a:t> </a:t>
            </a:r>
            <a:r>
              <a:rPr sz="2400" b="1" spc="-150" dirty="0">
                <a:latin typeface="Verdana"/>
                <a:cs typeface="Verdana"/>
              </a:rPr>
              <a:t>del</a:t>
            </a:r>
            <a:r>
              <a:rPr sz="2400" b="1" spc="-110" dirty="0">
                <a:latin typeface="Verdana"/>
                <a:cs typeface="Verdana"/>
              </a:rPr>
              <a:t> </a:t>
            </a:r>
            <a:r>
              <a:rPr sz="2400" b="1" spc="-10" dirty="0">
                <a:latin typeface="Verdana"/>
                <a:cs typeface="Verdana"/>
              </a:rPr>
              <a:t>átomo</a:t>
            </a:r>
            <a:r>
              <a:rPr sz="1800" spc="-10" dirty="0"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372" y="457200"/>
            <a:ext cx="2724911" cy="1031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04800" y="1669812"/>
            <a:ext cx="9296400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Escribir</a:t>
            </a:r>
            <a:r>
              <a:rPr spc="-55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spc="-10" dirty="0"/>
              <a:t>configuración</a:t>
            </a:r>
            <a:r>
              <a:rPr spc="-50" dirty="0"/>
              <a:t> </a:t>
            </a:r>
            <a:r>
              <a:rPr spc="-10" dirty="0"/>
              <a:t>electrónica</a:t>
            </a:r>
            <a:r>
              <a:rPr spc="-70" dirty="0"/>
              <a:t> </a:t>
            </a:r>
            <a:r>
              <a:rPr dirty="0"/>
              <a:t>completa</a:t>
            </a:r>
            <a:r>
              <a:rPr spc="-65" dirty="0"/>
              <a:t> </a:t>
            </a:r>
            <a:r>
              <a:rPr dirty="0"/>
              <a:t>para</a:t>
            </a:r>
            <a:r>
              <a:rPr spc="-10" dirty="0"/>
              <a:t> </a:t>
            </a:r>
            <a:r>
              <a:rPr dirty="0"/>
              <a:t>los</a:t>
            </a:r>
            <a:r>
              <a:rPr spc="-40" dirty="0"/>
              <a:t> </a:t>
            </a:r>
            <a:r>
              <a:rPr dirty="0"/>
              <a:t>átomos</a:t>
            </a:r>
            <a:r>
              <a:rPr spc="-40" dirty="0"/>
              <a:t> </a:t>
            </a:r>
            <a:r>
              <a:rPr dirty="0"/>
              <a:t>(neutros)</a:t>
            </a:r>
            <a:r>
              <a:rPr spc="-45" dirty="0"/>
              <a:t> </a:t>
            </a:r>
            <a:r>
              <a:rPr spc="-25" dirty="0"/>
              <a:t>con </a:t>
            </a:r>
            <a:r>
              <a:rPr dirty="0"/>
              <a:t>Z=</a:t>
            </a:r>
            <a:r>
              <a:rPr spc="-40" dirty="0"/>
              <a:t> </a:t>
            </a:r>
            <a:r>
              <a:rPr dirty="0"/>
              <a:t>11,</a:t>
            </a:r>
            <a:r>
              <a:rPr spc="-55" dirty="0"/>
              <a:t> </a:t>
            </a:r>
            <a:r>
              <a:rPr dirty="0"/>
              <a:t>19</a:t>
            </a:r>
            <a:r>
              <a:rPr spc="-45" dirty="0"/>
              <a:t> </a:t>
            </a:r>
            <a:r>
              <a:rPr dirty="0"/>
              <a:t>y</a:t>
            </a:r>
            <a:r>
              <a:rPr spc="-30" dirty="0"/>
              <a:t> </a:t>
            </a:r>
            <a:r>
              <a:rPr dirty="0"/>
              <a:t>37</a:t>
            </a:r>
            <a:r>
              <a:rPr spc="-30" dirty="0"/>
              <a:t> </a:t>
            </a:r>
            <a:r>
              <a:rPr spc="-10" dirty="0"/>
              <a:t>respectivamente.</a:t>
            </a:r>
            <a:r>
              <a:rPr spc="-35" dirty="0"/>
              <a:t> </a:t>
            </a:r>
            <a:r>
              <a:rPr dirty="0"/>
              <a:t>Consulte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qué</a:t>
            </a:r>
            <a:r>
              <a:rPr spc="-25" dirty="0"/>
              <a:t> </a:t>
            </a:r>
            <a:r>
              <a:rPr dirty="0"/>
              <a:t>elementos</a:t>
            </a:r>
            <a:r>
              <a:rPr spc="-35" dirty="0"/>
              <a:t> </a:t>
            </a:r>
            <a:r>
              <a:rPr dirty="0"/>
              <a:t>se</a:t>
            </a:r>
            <a:r>
              <a:rPr spc="-50" dirty="0"/>
              <a:t> </a:t>
            </a:r>
            <a:r>
              <a:rPr dirty="0"/>
              <a:t>trata</a:t>
            </a:r>
            <a:r>
              <a:rPr spc="-25" dirty="0"/>
              <a:t> </a:t>
            </a:r>
            <a:r>
              <a:rPr spc="-50" dirty="0"/>
              <a:t>e </a:t>
            </a:r>
            <a:r>
              <a:rPr dirty="0"/>
              <a:t>ubíquelos</a:t>
            </a:r>
            <a:r>
              <a:rPr spc="-50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su</a:t>
            </a:r>
            <a:r>
              <a:rPr spc="-20" dirty="0"/>
              <a:t> </a:t>
            </a:r>
            <a:r>
              <a:rPr spc="-10" dirty="0"/>
              <a:t>correspondiente</a:t>
            </a:r>
            <a:r>
              <a:rPr spc="-40" dirty="0"/>
              <a:t> </a:t>
            </a:r>
            <a:r>
              <a:rPr dirty="0"/>
              <a:t>casilla</a:t>
            </a:r>
            <a:r>
              <a:rPr spc="-3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tabla</a:t>
            </a:r>
            <a:r>
              <a:rPr spc="-35" dirty="0"/>
              <a:t> </a:t>
            </a:r>
            <a:r>
              <a:rPr spc="-10" dirty="0"/>
              <a:t>periódica.</a:t>
            </a:r>
          </a:p>
          <a:p>
            <a:pPr marL="12700">
              <a:lnSpc>
                <a:spcPct val="100000"/>
              </a:lnSpc>
            </a:pPr>
            <a:r>
              <a:rPr dirty="0"/>
              <a:t>Ordene</a:t>
            </a:r>
            <a:r>
              <a:rPr spc="-70" dirty="0"/>
              <a:t> </a:t>
            </a:r>
            <a:r>
              <a:rPr dirty="0"/>
              <a:t>dichos</a:t>
            </a:r>
            <a:r>
              <a:rPr spc="-50" dirty="0"/>
              <a:t> </a:t>
            </a:r>
            <a:r>
              <a:rPr dirty="0"/>
              <a:t>elementos</a:t>
            </a:r>
            <a:r>
              <a:rPr spc="-45" dirty="0"/>
              <a:t> </a:t>
            </a:r>
            <a:r>
              <a:rPr dirty="0"/>
              <a:t>en</a:t>
            </a:r>
            <a:r>
              <a:rPr spc="-30" dirty="0"/>
              <a:t> </a:t>
            </a:r>
            <a:r>
              <a:rPr dirty="0">
                <a:solidFill>
                  <a:srgbClr val="FF0000"/>
                </a:solidFill>
              </a:rPr>
              <a:t>orden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creciente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>
                <a:solidFill>
                  <a:srgbClr val="FF0000"/>
                </a:solidFill>
              </a:rPr>
              <a:t>electronegatividad</a:t>
            </a:r>
          </a:p>
          <a:p>
            <a:pPr marL="12700" marR="117475">
              <a:lnSpc>
                <a:spcPct val="100000"/>
              </a:lnSpc>
            </a:pPr>
            <a:r>
              <a:rPr dirty="0"/>
              <a:t>Cuál</a:t>
            </a:r>
            <a:r>
              <a:rPr spc="-40" dirty="0"/>
              <a:t> </a:t>
            </a:r>
            <a:r>
              <a:rPr dirty="0"/>
              <a:t>sería</a:t>
            </a:r>
            <a:r>
              <a:rPr spc="-3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dirty="0"/>
              <a:t>estado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oxidación</a:t>
            </a:r>
            <a:r>
              <a:rPr spc="-5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carga</a:t>
            </a:r>
            <a:r>
              <a:rPr spc="-35" dirty="0"/>
              <a:t> </a:t>
            </a:r>
            <a:r>
              <a:rPr dirty="0"/>
              <a:t>más</a:t>
            </a:r>
            <a:r>
              <a:rPr spc="-45" dirty="0"/>
              <a:t> </a:t>
            </a:r>
            <a:r>
              <a:rPr dirty="0"/>
              <a:t>probable</a:t>
            </a:r>
            <a:r>
              <a:rPr spc="-55" dirty="0"/>
              <a:t> </a:t>
            </a:r>
            <a:r>
              <a:rPr dirty="0"/>
              <a:t>para</a:t>
            </a:r>
            <a:r>
              <a:rPr spc="-35" dirty="0"/>
              <a:t> </a:t>
            </a:r>
            <a:r>
              <a:rPr dirty="0"/>
              <a:t>cada</a:t>
            </a:r>
            <a:r>
              <a:rPr spc="-35" dirty="0"/>
              <a:t> </a:t>
            </a:r>
            <a:r>
              <a:rPr dirty="0"/>
              <a:t>uno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ellos?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372" y="457200"/>
            <a:ext cx="2724911" cy="1031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32136" y="1669812"/>
            <a:ext cx="8821464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Escribir</a:t>
            </a:r>
            <a:r>
              <a:rPr spc="-55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spc="-10" dirty="0"/>
              <a:t>configuración</a:t>
            </a:r>
            <a:r>
              <a:rPr spc="-50" dirty="0"/>
              <a:t> </a:t>
            </a:r>
            <a:r>
              <a:rPr spc="-10" dirty="0"/>
              <a:t>electrónica</a:t>
            </a:r>
            <a:r>
              <a:rPr spc="-70" dirty="0"/>
              <a:t> </a:t>
            </a:r>
            <a:r>
              <a:rPr dirty="0"/>
              <a:t>completa</a:t>
            </a:r>
            <a:r>
              <a:rPr spc="-65" dirty="0"/>
              <a:t> </a:t>
            </a:r>
            <a:r>
              <a:rPr dirty="0"/>
              <a:t>para</a:t>
            </a:r>
            <a:r>
              <a:rPr spc="-10" dirty="0"/>
              <a:t> </a:t>
            </a:r>
            <a:r>
              <a:rPr dirty="0"/>
              <a:t>los</a:t>
            </a:r>
            <a:r>
              <a:rPr spc="-40" dirty="0"/>
              <a:t> </a:t>
            </a:r>
            <a:r>
              <a:rPr dirty="0"/>
              <a:t>átomos</a:t>
            </a:r>
            <a:r>
              <a:rPr spc="-40" dirty="0"/>
              <a:t> </a:t>
            </a:r>
            <a:r>
              <a:rPr dirty="0"/>
              <a:t>(neutros)</a:t>
            </a:r>
            <a:r>
              <a:rPr spc="-45" dirty="0"/>
              <a:t> </a:t>
            </a:r>
            <a:r>
              <a:rPr spc="-25" dirty="0"/>
              <a:t>con </a:t>
            </a:r>
            <a:r>
              <a:rPr dirty="0"/>
              <a:t>Z=</a:t>
            </a:r>
            <a:r>
              <a:rPr spc="-35" dirty="0"/>
              <a:t> </a:t>
            </a:r>
            <a:r>
              <a:rPr dirty="0"/>
              <a:t>35,</a:t>
            </a:r>
            <a:r>
              <a:rPr spc="-50" dirty="0"/>
              <a:t> </a:t>
            </a:r>
            <a:r>
              <a:rPr dirty="0"/>
              <a:t>17,</a:t>
            </a:r>
            <a:r>
              <a:rPr spc="-50" dirty="0"/>
              <a:t> </a:t>
            </a:r>
            <a:r>
              <a:rPr dirty="0"/>
              <a:t>9</a:t>
            </a:r>
            <a:r>
              <a:rPr spc="-30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dirty="0"/>
              <a:t>53</a:t>
            </a:r>
            <a:r>
              <a:rPr spc="-25" dirty="0"/>
              <a:t> </a:t>
            </a:r>
            <a:r>
              <a:rPr spc="-10" dirty="0"/>
              <a:t>respectivamente.</a:t>
            </a:r>
            <a:r>
              <a:rPr spc="-55" dirty="0"/>
              <a:t> </a:t>
            </a:r>
            <a:r>
              <a:rPr dirty="0"/>
              <a:t>Consulte</a:t>
            </a:r>
            <a:r>
              <a:rPr spc="-6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qué</a:t>
            </a:r>
            <a:r>
              <a:rPr spc="-40" dirty="0"/>
              <a:t> </a:t>
            </a:r>
            <a:r>
              <a:rPr dirty="0"/>
              <a:t>elementos</a:t>
            </a:r>
            <a:r>
              <a:rPr spc="-15" dirty="0"/>
              <a:t> </a:t>
            </a:r>
            <a:r>
              <a:rPr dirty="0"/>
              <a:t>se</a:t>
            </a:r>
            <a:r>
              <a:rPr spc="-40" dirty="0"/>
              <a:t> </a:t>
            </a:r>
            <a:r>
              <a:rPr dirty="0"/>
              <a:t>trata</a:t>
            </a:r>
            <a:r>
              <a:rPr spc="-25" dirty="0"/>
              <a:t> </a:t>
            </a:r>
            <a:r>
              <a:rPr spc="-50" dirty="0"/>
              <a:t>e </a:t>
            </a:r>
            <a:r>
              <a:rPr dirty="0"/>
              <a:t>ubíquelos</a:t>
            </a:r>
            <a:r>
              <a:rPr spc="-50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su</a:t>
            </a:r>
            <a:r>
              <a:rPr spc="-20" dirty="0"/>
              <a:t> </a:t>
            </a:r>
            <a:r>
              <a:rPr spc="-10" dirty="0"/>
              <a:t>correspondiente</a:t>
            </a:r>
            <a:r>
              <a:rPr spc="-40" dirty="0"/>
              <a:t> </a:t>
            </a:r>
            <a:r>
              <a:rPr dirty="0"/>
              <a:t>casilla</a:t>
            </a:r>
            <a:r>
              <a:rPr spc="-3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tabla</a:t>
            </a:r>
            <a:r>
              <a:rPr spc="-35" dirty="0"/>
              <a:t> </a:t>
            </a:r>
            <a:r>
              <a:rPr spc="-10" dirty="0"/>
              <a:t>periódica.</a:t>
            </a:r>
          </a:p>
          <a:p>
            <a:pPr marL="12700">
              <a:lnSpc>
                <a:spcPct val="100000"/>
              </a:lnSpc>
            </a:pPr>
            <a:r>
              <a:rPr dirty="0"/>
              <a:t>Ordene</a:t>
            </a:r>
            <a:r>
              <a:rPr spc="-70" dirty="0"/>
              <a:t> </a:t>
            </a:r>
            <a:r>
              <a:rPr dirty="0"/>
              <a:t>dichos</a:t>
            </a:r>
            <a:r>
              <a:rPr spc="-50" dirty="0"/>
              <a:t> </a:t>
            </a:r>
            <a:r>
              <a:rPr dirty="0"/>
              <a:t>elementos</a:t>
            </a:r>
            <a:r>
              <a:rPr spc="-45" dirty="0"/>
              <a:t> </a:t>
            </a:r>
            <a:r>
              <a:rPr dirty="0"/>
              <a:t>en</a:t>
            </a:r>
            <a:r>
              <a:rPr spc="-30" dirty="0"/>
              <a:t> </a:t>
            </a:r>
            <a:r>
              <a:rPr dirty="0">
                <a:solidFill>
                  <a:srgbClr val="FF0000"/>
                </a:solidFill>
              </a:rPr>
              <a:t>orden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creciente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>
                <a:solidFill>
                  <a:srgbClr val="FF0000"/>
                </a:solidFill>
              </a:rPr>
              <a:t>electronegatividad</a:t>
            </a:r>
          </a:p>
          <a:p>
            <a:pPr marL="12700" marR="117475">
              <a:lnSpc>
                <a:spcPct val="100000"/>
              </a:lnSpc>
            </a:pPr>
            <a:r>
              <a:rPr dirty="0"/>
              <a:t>Cuál</a:t>
            </a:r>
            <a:r>
              <a:rPr spc="-40" dirty="0"/>
              <a:t> </a:t>
            </a:r>
            <a:r>
              <a:rPr dirty="0"/>
              <a:t>sería</a:t>
            </a:r>
            <a:r>
              <a:rPr spc="-3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dirty="0"/>
              <a:t>estado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oxidación</a:t>
            </a:r>
            <a:r>
              <a:rPr spc="-5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carga</a:t>
            </a:r>
            <a:r>
              <a:rPr spc="-35" dirty="0"/>
              <a:t> </a:t>
            </a:r>
            <a:r>
              <a:rPr dirty="0"/>
              <a:t>más</a:t>
            </a:r>
            <a:r>
              <a:rPr spc="-45" dirty="0"/>
              <a:t> </a:t>
            </a:r>
            <a:r>
              <a:rPr dirty="0"/>
              <a:t>probable</a:t>
            </a:r>
            <a:r>
              <a:rPr spc="-55" dirty="0"/>
              <a:t> </a:t>
            </a:r>
            <a:r>
              <a:rPr dirty="0"/>
              <a:t>para</a:t>
            </a:r>
            <a:r>
              <a:rPr spc="-35" dirty="0"/>
              <a:t> </a:t>
            </a:r>
            <a:r>
              <a:rPr dirty="0"/>
              <a:t>cada</a:t>
            </a:r>
            <a:r>
              <a:rPr spc="-35" dirty="0"/>
              <a:t> </a:t>
            </a:r>
            <a:r>
              <a:rPr dirty="0"/>
              <a:t>uno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ellos?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372" y="457200"/>
            <a:ext cx="2724911" cy="1031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32136" y="1669812"/>
            <a:ext cx="8745264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Escribir</a:t>
            </a:r>
            <a:r>
              <a:rPr spc="-55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spc="-10" dirty="0"/>
              <a:t>configuración</a:t>
            </a:r>
            <a:r>
              <a:rPr spc="-50" dirty="0"/>
              <a:t> </a:t>
            </a:r>
            <a:r>
              <a:rPr spc="-10" dirty="0"/>
              <a:t>electrónica</a:t>
            </a:r>
            <a:r>
              <a:rPr spc="-70" dirty="0"/>
              <a:t> </a:t>
            </a:r>
            <a:r>
              <a:rPr dirty="0"/>
              <a:t>completa</a:t>
            </a:r>
            <a:r>
              <a:rPr spc="-65" dirty="0"/>
              <a:t> </a:t>
            </a:r>
            <a:r>
              <a:rPr dirty="0"/>
              <a:t>para</a:t>
            </a:r>
            <a:r>
              <a:rPr spc="-10" dirty="0"/>
              <a:t> </a:t>
            </a:r>
            <a:r>
              <a:rPr dirty="0"/>
              <a:t>los</a:t>
            </a:r>
            <a:r>
              <a:rPr spc="-40" dirty="0"/>
              <a:t> </a:t>
            </a:r>
            <a:r>
              <a:rPr dirty="0"/>
              <a:t>átomos</a:t>
            </a:r>
            <a:r>
              <a:rPr spc="-40" dirty="0"/>
              <a:t> </a:t>
            </a:r>
            <a:r>
              <a:rPr dirty="0"/>
              <a:t>(neutros)</a:t>
            </a:r>
            <a:r>
              <a:rPr spc="-45" dirty="0"/>
              <a:t> </a:t>
            </a:r>
            <a:r>
              <a:rPr spc="-25" dirty="0"/>
              <a:t>con </a:t>
            </a:r>
            <a:r>
              <a:rPr dirty="0"/>
              <a:t>Z=</a:t>
            </a:r>
            <a:r>
              <a:rPr spc="-40" dirty="0"/>
              <a:t> </a:t>
            </a:r>
            <a:r>
              <a:rPr dirty="0"/>
              <a:t>4,</a:t>
            </a:r>
            <a:r>
              <a:rPr spc="-40" dirty="0"/>
              <a:t> </a:t>
            </a:r>
            <a:r>
              <a:rPr dirty="0"/>
              <a:t>6,</a:t>
            </a:r>
            <a:r>
              <a:rPr spc="-40" dirty="0"/>
              <a:t> </a:t>
            </a:r>
            <a:r>
              <a:rPr dirty="0"/>
              <a:t>8</a:t>
            </a:r>
            <a:r>
              <a:rPr spc="-35" dirty="0"/>
              <a:t> </a:t>
            </a:r>
            <a:r>
              <a:rPr dirty="0"/>
              <a:t>y</a:t>
            </a:r>
            <a:r>
              <a:rPr spc="-25" dirty="0"/>
              <a:t> </a:t>
            </a:r>
            <a:r>
              <a:rPr dirty="0"/>
              <a:t>9</a:t>
            </a:r>
            <a:r>
              <a:rPr spc="-35" dirty="0"/>
              <a:t> </a:t>
            </a:r>
            <a:r>
              <a:rPr spc="-10" dirty="0"/>
              <a:t>respectivamente.</a:t>
            </a:r>
            <a:r>
              <a:rPr spc="-40" dirty="0"/>
              <a:t> </a:t>
            </a:r>
            <a:r>
              <a:rPr dirty="0"/>
              <a:t>Consulte</a:t>
            </a:r>
            <a:r>
              <a:rPr spc="-5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qué</a:t>
            </a:r>
            <a:r>
              <a:rPr spc="-30" dirty="0"/>
              <a:t> </a:t>
            </a:r>
            <a:r>
              <a:rPr dirty="0"/>
              <a:t>elementos</a:t>
            </a:r>
            <a:r>
              <a:rPr spc="-40" dirty="0"/>
              <a:t> </a:t>
            </a:r>
            <a:r>
              <a:rPr dirty="0"/>
              <a:t>se</a:t>
            </a:r>
            <a:r>
              <a:rPr spc="-30" dirty="0"/>
              <a:t> </a:t>
            </a:r>
            <a:r>
              <a:rPr dirty="0"/>
              <a:t>trata</a:t>
            </a:r>
            <a:r>
              <a:rPr spc="-30" dirty="0"/>
              <a:t> </a:t>
            </a:r>
            <a:r>
              <a:rPr spc="-50" dirty="0"/>
              <a:t>e </a:t>
            </a:r>
            <a:r>
              <a:rPr dirty="0"/>
              <a:t>ubíquelos</a:t>
            </a:r>
            <a:r>
              <a:rPr spc="-50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su</a:t>
            </a:r>
            <a:r>
              <a:rPr spc="-20" dirty="0"/>
              <a:t> </a:t>
            </a:r>
            <a:r>
              <a:rPr spc="-10" dirty="0"/>
              <a:t>correspondiente</a:t>
            </a:r>
            <a:r>
              <a:rPr spc="-40" dirty="0"/>
              <a:t> </a:t>
            </a:r>
            <a:r>
              <a:rPr dirty="0"/>
              <a:t>casilla</a:t>
            </a:r>
            <a:r>
              <a:rPr spc="-3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tabla</a:t>
            </a:r>
            <a:r>
              <a:rPr spc="-35" dirty="0"/>
              <a:t> </a:t>
            </a:r>
            <a:r>
              <a:rPr spc="-10" dirty="0"/>
              <a:t>periódica.</a:t>
            </a:r>
          </a:p>
          <a:p>
            <a:pPr marL="12700">
              <a:lnSpc>
                <a:spcPct val="100000"/>
              </a:lnSpc>
            </a:pPr>
            <a:r>
              <a:rPr dirty="0"/>
              <a:t>Ordene</a:t>
            </a:r>
            <a:r>
              <a:rPr spc="-65" dirty="0"/>
              <a:t> </a:t>
            </a:r>
            <a:r>
              <a:rPr dirty="0"/>
              <a:t>dichos</a:t>
            </a:r>
            <a:r>
              <a:rPr spc="-55" dirty="0"/>
              <a:t> </a:t>
            </a:r>
            <a:r>
              <a:rPr dirty="0"/>
              <a:t>elementos</a:t>
            </a:r>
            <a:r>
              <a:rPr spc="-50" dirty="0"/>
              <a:t> </a:t>
            </a:r>
            <a:r>
              <a:rPr dirty="0"/>
              <a:t>en</a:t>
            </a:r>
            <a:r>
              <a:rPr spc="-40" dirty="0"/>
              <a:t> </a:t>
            </a:r>
            <a:r>
              <a:rPr dirty="0">
                <a:solidFill>
                  <a:srgbClr val="FF0000"/>
                </a:solidFill>
              </a:rPr>
              <a:t>orden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creciente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>
                <a:solidFill>
                  <a:srgbClr val="FF0000"/>
                </a:solidFill>
              </a:rPr>
              <a:t>radio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atómico</a:t>
            </a:r>
          </a:p>
          <a:p>
            <a:pPr marL="12700" marR="117475">
              <a:lnSpc>
                <a:spcPct val="100000"/>
              </a:lnSpc>
            </a:pPr>
            <a:r>
              <a:rPr dirty="0"/>
              <a:t>Cuál</a:t>
            </a:r>
            <a:r>
              <a:rPr spc="-40" dirty="0"/>
              <a:t> </a:t>
            </a:r>
            <a:r>
              <a:rPr dirty="0"/>
              <a:t>sería</a:t>
            </a:r>
            <a:r>
              <a:rPr spc="-3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dirty="0"/>
              <a:t>estado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oxidación</a:t>
            </a:r>
            <a:r>
              <a:rPr spc="-5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carga</a:t>
            </a:r>
            <a:r>
              <a:rPr spc="-35" dirty="0"/>
              <a:t> </a:t>
            </a:r>
            <a:r>
              <a:rPr dirty="0"/>
              <a:t>más</a:t>
            </a:r>
            <a:r>
              <a:rPr spc="-45" dirty="0"/>
              <a:t> </a:t>
            </a:r>
            <a:r>
              <a:rPr dirty="0"/>
              <a:t>probable</a:t>
            </a:r>
            <a:r>
              <a:rPr spc="-55" dirty="0"/>
              <a:t> </a:t>
            </a:r>
            <a:r>
              <a:rPr dirty="0"/>
              <a:t>para</a:t>
            </a:r>
            <a:r>
              <a:rPr spc="-35" dirty="0"/>
              <a:t> </a:t>
            </a:r>
            <a:r>
              <a:rPr dirty="0"/>
              <a:t>cada</a:t>
            </a:r>
            <a:r>
              <a:rPr spc="-35" dirty="0"/>
              <a:t> </a:t>
            </a:r>
            <a:r>
              <a:rPr dirty="0"/>
              <a:t>uno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ellos?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Propiedades</a:t>
            </a:r>
            <a:r>
              <a:rPr spc="-195" dirty="0"/>
              <a:t> </a:t>
            </a:r>
            <a:r>
              <a:rPr spc="-10" dirty="0">
                <a:solidFill>
                  <a:srgbClr val="363638"/>
                </a:solidFill>
              </a:rPr>
              <a:t>Periódicas.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372" y="457200"/>
            <a:ext cx="2724911" cy="103174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32136" y="1669812"/>
            <a:ext cx="8592864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Escribir</a:t>
            </a:r>
            <a:r>
              <a:rPr spc="-55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spc="-10" dirty="0"/>
              <a:t>configuración</a:t>
            </a:r>
            <a:r>
              <a:rPr spc="-50" dirty="0"/>
              <a:t> </a:t>
            </a:r>
            <a:r>
              <a:rPr spc="-10" dirty="0"/>
              <a:t>electrónica</a:t>
            </a:r>
            <a:r>
              <a:rPr spc="-70" dirty="0"/>
              <a:t> </a:t>
            </a:r>
            <a:r>
              <a:rPr dirty="0"/>
              <a:t>completa</a:t>
            </a:r>
            <a:r>
              <a:rPr spc="-65" dirty="0"/>
              <a:t> </a:t>
            </a:r>
            <a:r>
              <a:rPr dirty="0"/>
              <a:t>para</a:t>
            </a:r>
            <a:r>
              <a:rPr spc="-10" dirty="0"/>
              <a:t> </a:t>
            </a:r>
            <a:r>
              <a:rPr dirty="0"/>
              <a:t>los</a:t>
            </a:r>
            <a:r>
              <a:rPr spc="-40" dirty="0"/>
              <a:t> </a:t>
            </a:r>
            <a:r>
              <a:rPr dirty="0"/>
              <a:t>átomos</a:t>
            </a:r>
            <a:r>
              <a:rPr spc="-40" dirty="0"/>
              <a:t> </a:t>
            </a:r>
            <a:r>
              <a:rPr dirty="0"/>
              <a:t>(neutros)</a:t>
            </a:r>
            <a:r>
              <a:rPr spc="-45" dirty="0"/>
              <a:t> </a:t>
            </a:r>
            <a:r>
              <a:rPr spc="-25" dirty="0"/>
              <a:t>con </a:t>
            </a:r>
            <a:r>
              <a:rPr dirty="0"/>
              <a:t>Z=</a:t>
            </a:r>
            <a:r>
              <a:rPr spc="-35" dirty="0"/>
              <a:t> </a:t>
            </a:r>
            <a:r>
              <a:rPr dirty="0"/>
              <a:t>38,</a:t>
            </a:r>
            <a:r>
              <a:rPr spc="-55" dirty="0"/>
              <a:t> </a:t>
            </a:r>
            <a:r>
              <a:rPr dirty="0"/>
              <a:t>47,</a:t>
            </a:r>
            <a:r>
              <a:rPr spc="-55" dirty="0"/>
              <a:t> </a:t>
            </a:r>
            <a:r>
              <a:rPr dirty="0"/>
              <a:t>43</a:t>
            </a:r>
            <a:r>
              <a:rPr spc="-45" dirty="0"/>
              <a:t> </a:t>
            </a:r>
            <a:r>
              <a:rPr dirty="0"/>
              <a:t>y</a:t>
            </a:r>
            <a:r>
              <a:rPr spc="-25" dirty="0"/>
              <a:t> </a:t>
            </a:r>
            <a:r>
              <a:rPr dirty="0"/>
              <a:t>53</a:t>
            </a:r>
            <a:r>
              <a:rPr spc="-30" dirty="0"/>
              <a:t> </a:t>
            </a:r>
            <a:r>
              <a:rPr spc="-10" dirty="0"/>
              <a:t>respectivamente.</a:t>
            </a:r>
            <a:r>
              <a:rPr spc="-35" dirty="0"/>
              <a:t> </a:t>
            </a:r>
            <a:r>
              <a:rPr dirty="0"/>
              <a:t>Consulte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qué</a:t>
            </a:r>
            <a:r>
              <a:rPr spc="-25" dirty="0"/>
              <a:t> </a:t>
            </a:r>
            <a:r>
              <a:rPr dirty="0"/>
              <a:t>elementos</a:t>
            </a:r>
            <a:r>
              <a:rPr spc="-35" dirty="0"/>
              <a:t> </a:t>
            </a:r>
            <a:r>
              <a:rPr dirty="0"/>
              <a:t>se</a:t>
            </a:r>
            <a:r>
              <a:rPr spc="-25" dirty="0"/>
              <a:t> </a:t>
            </a:r>
            <a:r>
              <a:rPr dirty="0"/>
              <a:t>trata</a:t>
            </a:r>
            <a:r>
              <a:rPr spc="-25" dirty="0"/>
              <a:t> </a:t>
            </a:r>
            <a:r>
              <a:rPr spc="-50" dirty="0"/>
              <a:t>e </a:t>
            </a:r>
            <a:r>
              <a:rPr dirty="0"/>
              <a:t>ubíquelos</a:t>
            </a:r>
            <a:r>
              <a:rPr spc="-50" dirty="0"/>
              <a:t> </a:t>
            </a:r>
            <a:r>
              <a:rPr dirty="0"/>
              <a:t>en</a:t>
            </a:r>
            <a:r>
              <a:rPr spc="-20" dirty="0"/>
              <a:t> </a:t>
            </a:r>
            <a:r>
              <a:rPr dirty="0"/>
              <a:t>su</a:t>
            </a:r>
            <a:r>
              <a:rPr spc="-20" dirty="0"/>
              <a:t> </a:t>
            </a:r>
            <a:r>
              <a:rPr spc="-10" dirty="0"/>
              <a:t>correspondiente</a:t>
            </a:r>
            <a:r>
              <a:rPr spc="-40" dirty="0"/>
              <a:t> </a:t>
            </a:r>
            <a:r>
              <a:rPr dirty="0"/>
              <a:t>casilla</a:t>
            </a:r>
            <a:r>
              <a:rPr spc="-3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dirty="0"/>
              <a:t>tabla</a:t>
            </a:r>
            <a:r>
              <a:rPr spc="-35" dirty="0"/>
              <a:t> </a:t>
            </a:r>
            <a:r>
              <a:rPr spc="-10" dirty="0"/>
              <a:t>periódica.</a:t>
            </a:r>
          </a:p>
          <a:p>
            <a:pPr marL="12700" algn="just">
              <a:lnSpc>
                <a:spcPct val="100000"/>
              </a:lnSpc>
            </a:pPr>
            <a:r>
              <a:rPr dirty="0"/>
              <a:t>Ordene</a:t>
            </a:r>
            <a:r>
              <a:rPr spc="-65" dirty="0"/>
              <a:t> </a:t>
            </a:r>
            <a:r>
              <a:rPr dirty="0"/>
              <a:t>dichos</a:t>
            </a:r>
            <a:r>
              <a:rPr spc="-55" dirty="0"/>
              <a:t> </a:t>
            </a:r>
            <a:r>
              <a:rPr dirty="0"/>
              <a:t>elementos</a:t>
            </a:r>
            <a:r>
              <a:rPr spc="-50" dirty="0"/>
              <a:t> </a:t>
            </a:r>
            <a:r>
              <a:rPr dirty="0"/>
              <a:t>en</a:t>
            </a:r>
            <a:r>
              <a:rPr spc="-40" dirty="0"/>
              <a:t> </a:t>
            </a:r>
            <a:r>
              <a:rPr dirty="0">
                <a:solidFill>
                  <a:srgbClr val="FF0000"/>
                </a:solidFill>
              </a:rPr>
              <a:t>orden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creciente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>
                <a:solidFill>
                  <a:srgbClr val="FF0000"/>
                </a:solidFill>
              </a:rPr>
              <a:t>radio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atómico</a:t>
            </a:r>
          </a:p>
          <a:p>
            <a:pPr marL="12700" marR="117475" algn="just">
              <a:lnSpc>
                <a:spcPct val="100000"/>
              </a:lnSpc>
            </a:pPr>
            <a:r>
              <a:rPr dirty="0"/>
              <a:t>Cuál</a:t>
            </a:r>
            <a:r>
              <a:rPr spc="-40" dirty="0"/>
              <a:t> </a:t>
            </a:r>
            <a:r>
              <a:rPr dirty="0"/>
              <a:t>sería</a:t>
            </a:r>
            <a:r>
              <a:rPr spc="-3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dirty="0"/>
              <a:t>estado</a:t>
            </a:r>
            <a:r>
              <a:rPr spc="-4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oxidación</a:t>
            </a:r>
            <a:r>
              <a:rPr spc="-5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carga</a:t>
            </a:r>
            <a:r>
              <a:rPr spc="-35" dirty="0"/>
              <a:t> </a:t>
            </a:r>
            <a:r>
              <a:rPr dirty="0"/>
              <a:t>más</a:t>
            </a:r>
            <a:r>
              <a:rPr spc="-45" dirty="0"/>
              <a:t> </a:t>
            </a:r>
            <a:r>
              <a:rPr dirty="0"/>
              <a:t>probable</a:t>
            </a:r>
            <a:r>
              <a:rPr spc="-55" dirty="0"/>
              <a:t> </a:t>
            </a:r>
            <a:r>
              <a:rPr dirty="0"/>
              <a:t>para</a:t>
            </a:r>
            <a:r>
              <a:rPr spc="-35" dirty="0"/>
              <a:t> </a:t>
            </a:r>
            <a:r>
              <a:rPr dirty="0"/>
              <a:t>cada</a:t>
            </a:r>
            <a:r>
              <a:rPr spc="-35" dirty="0"/>
              <a:t> </a:t>
            </a:r>
            <a:r>
              <a:rPr dirty="0"/>
              <a:t>uno</a:t>
            </a:r>
            <a:r>
              <a:rPr spc="-45" dirty="0"/>
              <a:t> </a:t>
            </a:r>
            <a:r>
              <a:rPr spc="-25" dirty="0"/>
              <a:t>de </a:t>
            </a:r>
            <a:r>
              <a:rPr spc="-10" dirty="0"/>
              <a:t>ellos?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523306"/>
            <a:ext cx="9144000" cy="6791959"/>
            <a:chOff x="457200" y="523306"/>
            <a:chExt cx="9144000" cy="67919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358" y="523306"/>
              <a:ext cx="1637998" cy="77786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1293876"/>
              <a:ext cx="9144000" cy="60213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416</Words>
  <Application>Microsoft Office PowerPoint</Application>
  <PresentationFormat>Custom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Verdana</vt:lpstr>
      <vt:lpstr>Office Theme</vt:lpstr>
      <vt:lpstr>Propiedades Periódicas.</vt:lpstr>
      <vt:lpstr>Propiedades Periódicas.</vt:lpstr>
      <vt:lpstr>Propiedades Periódicas.</vt:lpstr>
      <vt:lpstr>Propiedades Periódicas.</vt:lpstr>
      <vt:lpstr>Propiedades Periódicas.</vt:lpstr>
      <vt:lpstr>Propiedades Periódicas.</vt:lpstr>
      <vt:lpstr>Propiedades Periódicas.</vt:lpstr>
      <vt:lpstr>Propiedades Periódicas.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Sesión 01_Estructura y clasificación de la materia</dc:title>
  <dc:creator>robac</dc:creator>
  <cp:lastModifiedBy>Carolina Alicia Castillo Vicencio</cp:lastModifiedBy>
  <cp:revision>1</cp:revision>
  <dcterms:created xsi:type="dcterms:W3CDTF">2024-03-11T13:14:47Z</dcterms:created>
  <dcterms:modified xsi:type="dcterms:W3CDTF">2024-06-11T17:30:18Z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2022-04-08T00:00:00Z</vt:filetime>
  </property>
  <property fmtid="{D5CDD505-2E9C-101B-9397-08002B2CF9AE}" pid="3" name="LastSaved">
    <vt:filetime>2024-03-11T00:00:00Z</vt:filetime>
  </property>
  <property fmtid="{D5CDD505-2E9C-101B-9397-08002B2CF9AE}" pid="4" name="Producer">
    <vt:lpwstr>Microsoft: Print To PDF</vt:lpwstr>
  </property>
</Properties>
</file>